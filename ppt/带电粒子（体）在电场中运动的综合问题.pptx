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1" r:id="rId2"/>
    <p:sldId id="258" r:id="rId3"/>
    <p:sldId id="269" r:id="rId4"/>
    <p:sldId id="272" r:id="rId5"/>
    <p:sldId id="297" r:id="rId6"/>
    <p:sldId id="273" r:id="rId7"/>
    <p:sldId id="274" r:id="rId8"/>
    <p:sldId id="316" r:id="rId9"/>
    <p:sldId id="317" r:id="rId10"/>
    <p:sldId id="320" r:id="rId11"/>
    <p:sldId id="276" r:id="rId12"/>
    <p:sldId id="262" r:id="rId13"/>
    <p:sldId id="277" r:id="rId14"/>
    <p:sldId id="299" r:id="rId15"/>
    <p:sldId id="279" r:id="rId16"/>
    <p:sldId id="301" r:id="rId17"/>
    <p:sldId id="280" r:id="rId18"/>
    <p:sldId id="284" r:id="rId19"/>
    <p:sldId id="302" r:id="rId20"/>
    <p:sldId id="285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" y="2144142"/>
            <a:ext cx="12208713" cy="290410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050" y="2152649"/>
            <a:ext cx="12192000" cy="2895600"/>
          </a:xfrm>
          <a:prstGeom prst="rect">
            <a:avLst/>
          </a:prstGeom>
          <a:solidFill>
            <a:schemeClr val="tx1">
              <a:lumMod val="50000"/>
              <a:lumOff val="5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" y="2562030"/>
            <a:ext cx="120700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专题强化4　带电粒子（体）在电场中运动的综合问题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124B-2D44-79FC-7308-BD075B986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01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6" name="文本框 15">
            <a:hlinkClick r:id="rId2" action="ppaction://hlinksldjump"/>
          </p:cNvPr>
          <p:cNvSpPr txBox="1"/>
          <p:nvPr/>
        </p:nvSpPr>
        <p:spPr>
          <a:xfrm>
            <a:off x="4543575" y="1942793"/>
            <a:ext cx="2646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强化点一</a:t>
            </a:r>
          </a:p>
        </p:txBody>
      </p: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3037082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带电粒子在交变电场中的运动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3E0B2D-5AA1-88B0-1CEB-AD1DA152D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56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8" name="yt_shape_13448"/>
          <p:cNvSpPr txBox="1"/>
          <p:nvPr/>
        </p:nvSpPr>
        <p:spPr>
          <a:xfrm>
            <a:off x="324000" y="1052010"/>
            <a:ext cx="6822380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带电粒子在交变电场中的直线运动</a:t>
            </a:r>
          </a:p>
        </p:txBody>
      </p:sp>
      <p:sp>
        <p:nvSpPr>
          <p:cNvPr id="13449" name="yt_shape_13449"/>
          <p:cNvSpPr txBox="1"/>
          <p:nvPr/>
        </p:nvSpPr>
        <p:spPr>
          <a:xfrm>
            <a:off x="324000" y="1636021"/>
            <a:ext cx="1885131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交变电场</a:t>
            </a:r>
          </a:p>
        </p:txBody>
      </p:sp>
      <p:sp>
        <p:nvSpPr>
          <p:cNvPr id="13450" name="yt_shape_13450"/>
          <p:cNvSpPr txBox="1"/>
          <p:nvPr/>
        </p:nvSpPr>
        <p:spPr>
          <a:xfrm>
            <a:off x="324071" y="2220032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电场强度的大小和方向随时间做周期性变化的电场叫作交变电场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_edde1"/>
              </a:rPr>
              <a:t>常见的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产生交变电场的电压波形有方形波、锯齿波、正弦波等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sp>
        <p:nvSpPr>
          <p:cNvPr id="13451" name="yt_shape_13451"/>
          <p:cNvSpPr txBox="1"/>
          <p:nvPr/>
        </p:nvSpPr>
        <p:spPr>
          <a:xfrm>
            <a:off x="324000" y="3387088"/>
            <a:ext cx="619400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带电粒子在电场中做直线运动的条件</a:t>
            </a:r>
          </a:p>
        </p:txBody>
      </p:sp>
      <p:sp>
        <p:nvSpPr>
          <p:cNvPr id="13452" name="yt_shape_13452"/>
          <p:cNvSpPr txBox="1"/>
          <p:nvPr/>
        </p:nvSpPr>
        <p:spPr>
          <a:xfrm>
            <a:off x="324071" y="397109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带电粒子进入电场时初速度为零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或初速度方向与电场方向平行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494bc"/>
              </a:rPr>
              <a:t>带电粒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子在交变静电力的作用下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做加速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减速交替的直线运动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C9ACF2-90FD-8279-225C-401A63822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1" grpId="0"/>
      <p:bldP spid="134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3" name="yt_shape_13453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两平行正对的金属板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053fa"/>
              </a:rPr>
              <a:t>间加有如图乙所示的交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变电压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一重力可忽略不计的带正电粒子被固定在两板的正中间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27e8"/>
              </a:rPr>
              <a:t>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时刻释放该粒子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粒子会时而向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时而向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e8373"/>
              </a:rPr>
              <a:t>并最终打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板上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可能属于的时间段是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3454" name="yt_image_1345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5795" y="2938365"/>
            <a:ext cx="5117009" cy="256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yt_table_13456" title="H_123.8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071" y="3058799"/>
              <a:ext cx="6123178" cy="1573276"/>
            </p:xfrm>
            <a:graphic>
              <a:graphicData uri="http://schemas.openxmlformats.org/drawingml/2006/table">
                <a:tbl>
                  <a:tblPr/>
                  <a:tblGrid>
                    <a:gridCol w="3476879">
                      <a:extLst>
                        <a:ext uri="{9D8B030D-6E8A-4147-A177-3AD203B41FA5}">
                          <a16:colId xmlns:a16="http://schemas.microsoft.com/office/drawing/2014/main" val="10358"/>
                        </a:ext>
                      </a:extLst>
                    </a:gridCol>
                    <a:gridCol w="2646299">
                      <a:extLst>
                        <a:ext uri="{9D8B030D-6E8A-4147-A177-3AD203B41FA5}">
                          <a16:colId xmlns:a16="http://schemas.microsoft.com/office/drawing/2014/main" val="103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9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1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5="http://schemas.microsoft.com/office/powerpoint/2012/main" xmlns:p14="http://schemas.microsoft.com/office/powerpoint/2010/main" xmlns="">
          <p:graphicFrame>
            <p:nvGraphicFramePr>
              <p:cNvPr id="4" name="yt_table_13456" title="H_123.8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451563"/>
                  </p:ext>
                </p:extLst>
              </p:nvPr>
            </p:nvGraphicFramePr>
            <p:xfrm>
              <a:off x="324071" y="3058799"/>
              <a:ext cx="6123178" cy="1694244"/>
            </p:xfrm>
            <a:graphic>
              <a:graphicData uri="http://schemas.openxmlformats.org/drawingml/2006/table">
                <a:tbl>
                  <a:tblPr/>
                  <a:tblGrid>
                    <a:gridCol w="3476879">
                      <a:extLst>
                        <a:ext uri="{9D8B030D-6E8A-4147-A177-3AD203B41FA5}">
                          <a16:colId xmlns:a16="http://schemas.microsoft.com/office/drawing/2014/main" val="10358"/>
                        </a:ext>
                      </a:extLst>
                    </a:gridCol>
                    <a:gridCol w="2646299">
                      <a:extLst>
                        <a:ext uri="{9D8B030D-6E8A-4147-A177-3AD203B41FA5}">
                          <a16:colId xmlns:a16="http://schemas.microsoft.com/office/drawing/2014/main" val="10359"/>
                        </a:ext>
                      </a:extLst>
                    </a:gridCol>
                  </a:tblGrid>
                  <a:tr h="8450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r="-76007" b="-1079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31567" b="-1079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0"/>
                      </a:ext>
                    </a:extLst>
                  </a:tr>
                  <a:tr h="84918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99286" r="-76007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31567" t="-99286" b="-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/>
          <p:cNvSpPr/>
          <p:nvPr/>
        </p:nvSpPr>
        <p:spPr>
          <a:xfrm>
            <a:off x="3512660" y="3163883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84766C-36BD-BD68-FDC8-AA41D6F46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58" name="yt_shape_13458"/>
              <p:cNvSpPr txBox="1"/>
              <p:nvPr/>
            </p:nvSpPr>
            <p:spPr>
              <a:xfrm>
                <a:off x="324073" y="467999"/>
                <a:ext cx="11543855" cy="602170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0_7d383"/>
                  </a:rPr>
                  <a:t>设粒子的速度方向、位移方向向右为正。依题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意知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粒子的速度方向时而为正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时而为负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d1a7e"/>
                  </a:rPr>
                  <a:t>最终打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板上时位移为负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速度方向为负。分别作出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804d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时释放粒子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粒子运动的速度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c51b2"/>
                  </a:rPr>
                  <a:t>时间图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如图所示。由于速度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b445f"/>
                  </a:rPr>
                  <a:t>时间图线与时间轴所围面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积表示粒子通过的位移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则由图像可知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fa20b"/>
                  </a:rPr>
                  <a:t>释放粒子时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间在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74d9a"/>
                  </a:rPr>
                  <a:t>时粒子在一个周期内的总位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移大于零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释放粒子时间在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193e"/>
                  </a:rPr>
                  <a:t>时粒子在一个周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期内的总位移小于零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释放粒子时间在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a442e"/>
                  </a:rPr>
                  <a:t>时情况类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似。因粒子最终打在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板上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98bd0"/>
                  </a:rPr>
                  <a:t>则要求粒子在每个周期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内的总位移应小于零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对照各项可知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3458" name="yt_shape_134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3" y="467999"/>
                <a:ext cx="11543855" cy="6021701"/>
              </a:xfrm>
              <a:prstGeom prst="rect">
                <a:avLst/>
              </a:prstGeom>
              <a:blipFill>
                <a:blip r:embed="rId2"/>
                <a:stretch>
                  <a:fillRect l="-1848" t="-405" r="-211" b="-4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E059742-4DBB-7C5C-C140-5AEBA4A8C75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908" y="467999"/>
            <a:ext cx="3189020" cy="226268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0BFC7D-670E-B7BF-1FBD-3D1C36EA7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yt_shape_13460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3461" name="yt_shape_13461"/>
          <p:cNvSpPr txBox="1"/>
          <p:nvPr/>
        </p:nvSpPr>
        <p:spPr>
          <a:xfrm>
            <a:off x="2325737" y="1056691"/>
            <a:ext cx="7540526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解决带电粒子在交变电场中直线运动问题的思路</a:t>
            </a:r>
          </a:p>
        </p:txBody>
      </p:sp>
      <p:sp>
        <p:nvSpPr>
          <p:cNvPr id="13462" name="yt_shape_13462"/>
          <p:cNvSpPr txBox="1"/>
          <p:nvPr/>
        </p:nvSpPr>
        <p:spPr>
          <a:xfrm>
            <a:off x="324071" y="1645383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通常将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图像等转化为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进一步绘制出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3d3e"/>
              </a:rPr>
              <a:t>t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可将复杂的运动过程直观地描述出来。</a:t>
            </a:r>
          </a:p>
        </p:txBody>
      </p:sp>
      <p:sp>
        <p:nvSpPr>
          <p:cNvPr id="13463" name="yt_shape_13463"/>
          <p:cNvSpPr txBox="1"/>
          <p:nvPr/>
        </p:nvSpPr>
        <p:spPr>
          <a:xfrm>
            <a:off x="324071" y="2831610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判断粒子一直向某一方向运动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还是做往复运动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7_85516"/>
              </a:rPr>
              <a:t>关键是判断粒子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的速度为零后加速度的方向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若加速度的方向与原来速度方向相同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_e1a7a"/>
              </a:rPr>
              <a:t>粒子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将继续向同一方向运动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若粒子加速度方向与原来运动方向相反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_a5d78"/>
              </a:rPr>
              <a:t>粒子将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向反方向运动。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30D54C-6D10-ADF6-13DC-5F5216D98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4" name="yt_shape_13464"/>
          <p:cNvSpPr txBox="1"/>
          <p:nvPr/>
        </p:nvSpPr>
        <p:spPr>
          <a:xfrm>
            <a:off x="324000" y="467999"/>
            <a:ext cx="6822380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带电粒子在交变电场中的曲线运动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13465"/>
              <p:cNvSpPr txBox="1"/>
              <p:nvPr/>
            </p:nvSpPr>
            <p:spPr>
              <a:xfrm>
                <a:off x="298600" y="1306199"/>
                <a:ext cx="11924914" cy="498030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【例</a:t>
                </a:r>
                <a:r>
                  <a:rPr lang="en-US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】　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隶书" pitchFamily="28"/>
                  </a:rPr>
                  <a:t>〔多选〕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如图甲所示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真空中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水平放置两块长度为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4_f6d50"/>
                  </a:rPr>
                  <a:t>的平行金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属板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宋体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两板间距为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两板间加上如图乙所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示最大值为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a9b81"/>
                  </a:rPr>
                  <a:t>的周期性变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化的电压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在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两板左侧紧靠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板处有一粒子源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自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8_ebaae"/>
                  </a:rPr>
                  <a:t>时刻开始连续释放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初速度大小为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方向平行于金属板的相同带电粒子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6_2443d"/>
                  </a:rPr>
                  <a:t>时刻释放的粒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子恰好从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板右侧边缘离开电场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已知电场变化周期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371d9"/>
                  </a:rPr>
                  <a:t>粒子质量为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不计粒子重力及相互间的作用力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则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a16="http://schemas.microsoft.com/office/drawing/2014/main" xmlns:p15="http://schemas.microsoft.com/office/powerpoint/2012/main" xmlns:p14="http://schemas.microsoft.com/office/powerpoint/2010/main" xmlns="">
          <p:sp>
            <p:nvSpPr>
              <p:cNvPr id="3" name="yt_shape_134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00" y="1306199"/>
                <a:ext cx="11924914" cy="4980301"/>
              </a:xfrm>
              <a:prstGeom prst="rect">
                <a:avLst/>
              </a:prstGeom>
              <a:blipFill>
                <a:blip r:embed="rId2"/>
                <a:stretch>
                  <a:fillRect l="-1840" t="-490" r="-767" b="-5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yt_image_13467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3221" y="1369588"/>
            <a:ext cx="5193956" cy="241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A594E4-8AF3-7B1E-8DCF-FAB8A6BDD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67" name="yt_image_13467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3656" y="467999"/>
            <a:ext cx="6284687" cy="292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469" name="yt_table_13469" title="H_238.91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066" y="3316904"/>
              <a:ext cx="9051862" cy="3034221"/>
            </p:xfrm>
            <a:graphic>
              <a:graphicData uri="http://schemas.openxmlformats.org/drawingml/2006/table">
                <a:tbl>
                  <a:tblPr/>
                  <a:tblGrid>
                    <a:gridCol w="9051862">
                      <a:extLst>
                        <a:ext uri="{9D8B030D-6E8A-4147-A177-3AD203B41FA5}">
                          <a16:colId xmlns:a16="http://schemas.microsoft.com/office/drawing/2014/main" val="103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在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时刻进入的粒子离开电场时速度大于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粒子的电荷量为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</m:t>
                                  </m:r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在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时刻进入的粒子恰好从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板右侧边缘离开电场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在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时刻进入的粒子恰好从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板右侧边缘离开电场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5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5="http://schemas.microsoft.com/office/powerpoint/2012/main" xmlns:p14="http://schemas.microsoft.com/office/powerpoint/2010/main" xmlns="">
          <p:graphicFrame>
            <p:nvGraphicFramePr>
              <p:cNvPr id="13469" name="yt_table_13469" title="H_238.91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548305"/>
                  </p:ext>
                </p:extLst>
              </p:nvPr>
            </p:nvGraphicFramePr>
            <p:xfrm>
              <a:off x="324066" y="3316904"/>
              <a:ext cx="9051862" cy="3297365"/>
            </p:xfrm>
            <a:graphic>
              <a:graphicData uri="http://schemas.openxmlformats.org/drawingml/2006/table">
                <a:tbl>
                  <a:tblPr/>
                  <a:tblGrid>
                    <a:gridCol w="9051862">
                      <a:extLst>
                        <a:ext uri="{9D8B030D-6E8A-4147-A177-3AD203B41FA5}">
                          <a16:colId xmlns:a16="http://schemas.microsoft.com/office/drawing/2014/main" val="10360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在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时刻进入的粒子离开电场时速度大于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2"/>
                      </a:ext>
                    </a:extLst>
                  </a:tr>
                  <a:tr h="1005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61446" b="-1728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3"/>
                      </a:ext>
                    </a:extLst>
                  </a:tr>
                  <a:tr h="84918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192806" b="-106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4"/>
                      </a:ext>
                    </a:extLst>
                  </a:tr>
                  <a:tr h="8450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292806" b="-6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矩形 3"/>
          <p:cNvSpPr/>
          <p:nvPr/>
        </p:nvSpPr>
        <p:spPr>
          <a:xfrm>
            <a:off x="12700" y="4091112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700" y="5802638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674D62-B267-E9D9-E123-DA49D85A8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71" name="yt_shape_13471"/>
              <p:cNvSpPr txBox="1"/>
              <p:nvPr/>
            </p:nvSpPr>
            <p:spPr>
              <a:xfrm>
                <a:off x="267086" y="586535"/>
                <a:ext cx="11924914" cy="40108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粒子进入电场后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水平方向做匀速运动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898c3"/>
                  </a:rPr>
                  <a:t>时刻进入电场的粒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子在电场中运动的时间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此时间正好是交变电场的一个周期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17ac5"/>
                  </a:rPr>
                  <a:t>粒子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在竖直方向先做加速运动后做减速运动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经过一个周期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3e6b4"/>
                  </a:rPr>
                  <a:t>粒子的竖直速度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故粒子离开电场时的速度大小等于水平速度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72551"/>
                  </a:rPr>
                  <a:t>粒子在竖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直方向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时间内的位移为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𝑑𝑚</m:t>
                        </m:r>
                      </m:den>
                    </m:f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𝑑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2800" b="0" i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0a2b"/>
                  </a:rPr>
                  <a:t>正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endParaRPr lang="zh-CN" altLang="zh-CN" sz="2800" b="0" i="0" u="none" dirty="0">
                  <a:solidFill>
                    <a:srgbClr val="C0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="">
          <p:sp>
            <p:nvSpPr>
              <p:cNvPr id="13471" name="yt_shape_134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586535"/>
                <a:ext cx="11924914" cy="4010865"/>
              </a:xfrm>
              <a:prstGeom prst="rect">
                <a:avLst/>
              </a:prstGeom>
              <a:blipFill>
                <a:blip r:embed="rId2"/>
                <a:stretch>
                  <a:fillRect l="-1840" t="-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7BFC44-D2F3-95A6-14B3-856BF8A78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275018AD-B9F1-73C6-EF7A-CE10BE2B6232}"/>
                  </a:ext>
                </a:extLst>
              </p:cNvPr>
              <p:cNvSpPr txBox="1"/>
              <p:nvPr/>
            </p:nvSpPr>
            <p:spPr>
              <a:xfrm>
                <a:off x="324071" y="467999"/>
                <a:ext cx="11927459" cy="4127155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时刻进入电场的粒子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离开电场时在竖直方向上的位移为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d'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  <a:sym typeface="_⨹_1_d604e"/>
                  </a:rPr>
                  <a:t>＝</a:t>
                </a:r>
                <a:b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</a:b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3</m:t>
                                </m:r>
                                <m: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即粒子恰好从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8_de770"/>
                  </a:rPr>
                  <a:t>两板正中间离开电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场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时刻进入的粒子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在竖直方向先向下加速运动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e3972"/>
                  </a:rPr>
                  <a:t>然后向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下减速运动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再向上加速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向上减速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由对称可知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8_4b05e"/>
                  </a:rPr>
                  <a:t>此时竖直方向的位</a:t>
                </a:r>
                <a:b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移为零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故粒子从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板右侧边缘离开电场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正确。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275018AD-B9F1-73C6-EF7A-CE10BE2B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7459" cy="4127155"/>
              </a:xfrm>
              <a:prstGeom prst="rect">
                <a:avLst/>
              </a:prstGeom>
              <a:blipFill>
                <a:blip r:embed="rId2"/>
                <a:stretch>
                  <a:fillRect l="-1788" b="-4136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4C03-66F4-9DDD-2370-15D480EBC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3" name="yt_shape_13473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3474" name="yt_shape_13474"/>
          <p:cNvSpPr txBox="1"/>
          <p:nvPr/>
        </p:nvSpPr>
        <p:spPr>
          <a:xfrm>
            <a:off x="324071" y="1056691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若带电粒子以一定的初速度垂直于电场方向进入交变电场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4_f7892"/>
              </a:rPr>
              <a:t>粒子将做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曲线运动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应运用运动的独立性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分方向对粒子进行运</a:t>
            </a:r>
            <a:r>
              <a:rPr lang="zh-CN" altLang="zh-CN" sz="2800" dirty="0">
                <a:solidFill>
                  <a:srgbClr val="000000"/>
                </a:solidFill>
                <a:latin typeface="Times New Roman" pitchFamily="28"/>
                <a:ea typeface="楷体" pitchFamily="28"/>
              </a:rPr>
              <a:t>动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28"/>
                <a:ea typeface="楷体" pitchFamily="28"/>
              </a:rPr>
              <a:t>分析：</a:t>
            </a:r>
          </a:p>
        </p:txBody>
      </p:sp>
      <p:sp>
        <p:nvSpPr>
          <p:cNvPr id="13475" name="yt_shape_13475"/>
          <p:cNvSpPr txBox="1"/>
          <p:nvPr/>
        </p:nvSpPr>
        <p:spPr>
          <a:xfrm>
            <a:off x="324000" y="2223747"/>
            <a:ext cx="736098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在初速度方向上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粒子做匀速直线运动。</a:t>
            </a:r>
          </a:p>
        </p:txBody>
      </p:sp>
      <p:sp>
        <p:nvSpPr>
          <p:cNvPr id="13476" name="yt_shape_13476"/>
          <p:cNvSpPr txBox="1"/>
          <p:nvPr/>
        </p:nvSpPr>
        <p:spPr>
          <a:xfrm>
            <a:off x="324071" y="2806732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在垂直于初速度方向上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粒子做加速、减速交替的运动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可利用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y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77165"/>
              </a:rPr>
              <a:t>t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图像进行速度、位移的分析。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800F9F-B7B8-42FE-2E1A-96295CAC8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02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19427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强化点二</a:t>
            </a:r>
          </a:p>
        </p:txBody>
      </p:sp>
      <p:sp>
        <p:nvSpPr>
          <p:cNvPr id="16" name="文本框 15">
            <a:hlinkClick r:id="rId3" action="ppaction://hlinksldjump"/>
          </p:cNvPr>
          <p:cNvSpPr txBox="1"/>
          <p:nvPr/>
        </p:nvSpPr>
        <p:spPr>
          <a:xfrm>
            <a:off x="4553834" y="3037082"/>
            <a:ext cx="77251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带电体在重力场和电场中的运动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6E170-7E11-7A41-0339-166323C0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7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8" name="yt_shape_13478"/>
          <p:cNvSpPr txBox="1"/>
          <p:nvPr/>
        </p:nvSpPr>
        <p:spPr>
          <a:xfrm>
            <a:off x="432186" y="480510"/>
            <a:ext cx="718145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带电体在电场和重力场中的直线运动</a:t>
            </a:r>
          </a:p>
        </p:txBody>
      </p:sp>
      <p:sp>
        <p:nvSpPr>
          <p:cNvPr id="4" name="yt_shape_13479"/>
          <p:cNvSpPr txBox="1"/>
          <p:nvPr/>
        </p:nvSpPr>
        <p:spPr>
          <a:xfrm>
            <a:off x="267086" y="1102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电荷量为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89007"/>
              </a:rPr>
              <a:t>的小球在电场强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区域足够大的匀强电场中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eabf7"/>
              </a:rPr>
              <a:t>在竖直面内做匀变速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与水平面的夹角为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f902"/>
              </a:rPr>
              <a:t>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5" name="yt_image_13480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16134" y="4011313"/>
            <a:ext cx="2687960" cy="172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yt_table_13482" title="H_224.39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8666" y="3425751"/>
              <a:ext cx="6070283" cy="2849753"/>
            </p:xfrm>
            <a:graphic>
              <a:graphicData uri="http://schemas.openxmlformats.org/drawingml/2006/table">
                <a:tbl>
                  <a:tblPr/>
                  <a:tblGrid>
                    <a:gridCol w="6070283">
                      <a:extLst>
                        <a:ext uri="{9D8B030D-6E8A-4147-A177-3AD203B41FA5}">
                          <a16:colId xmlns:a16="http://schemas.microsoft.com/office/drawing/2014/main" val="103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电场方向垂直于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ON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向上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小球运动的加速度大小为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小球上升的最大高度为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小球运动到最高点所需时间为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9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5="http://schemas.microsoft.com/office/powerpoint/2012/main" xmlns:p14="http://schemas.microsoft.com/office/powerpoint/2010/main" xmlns="">
          <p:graphicFrame>
            <p:nvGraphicFramePr>
              <p:cNvPr id="6" name="yt_table_13482" title="H_224.39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082745"/>
                  </p:ext>
                </p:extLst>
              </p:nvPr>
            </p:nvGraphicFramePr>
            <p:xfrm>
              <a:off x="298666" y="3425751"/>
              <a:ext cx="6070283" cy="3061843"/>
            </p:xfrm>
            <a:graphic>
              <a:graphicData uri="http://schemas.openxmlformats.org/drawingml/2006/table">
                <a:tbl>
                  <a:tblPr/>
                  <a:tblGrid>
                    <a:gridCol w="6070283">
                      <a:extLst>
                        <a:ext uri="{9D8B030D-6E8A-4147-A177-3AD203B41FA5}">
                          <a16:colId xmlns:a16="http://schemas.microsoft.com/office/drawing/2014/main" val="10361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电场方向垂直于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ON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向上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6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小球运动的加速度大小为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97"/>
                      </a:ext>
                    </a:extLst>
                  </a:tr>
                  <a:tr h="99961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121951" b="-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8"/>
                      </a:ext>
                    </a:extLst>
                  </a:tr>
                  <a:tr h="8674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254545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/>
          <p:cNvSpPr/>
          <p:nvPr/>
        </p:nvSpPr>
        <p:spPr>
          <a:xfrm>
            <a:off x="47812" y="3997519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812" y="4794011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7AE9CF-FF7E-7554-8EC3-8437EE45E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84" name="yt_shape_13484"/>
              <p:cNvSpPr txBox="1"/>
              <p:nvPr/>
            </p:nvSpPr>
            <p:spPr>
              <a:xfrm>
                <a:off x="324071" y="467999"/>
                <a:ext cx="11924914" cy="518936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由于带电小球在竖直面内做匀变速直线运动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其合力沿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ON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696b"/>
                  </a:rPr>
                  <a:t>方</a:t>
                </a:r>
                <a:b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向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而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qE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由平行四边形定则可知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电场方向与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ON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方向成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120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8f54"/>
                  </a:rPr>
                  <a:t>°</a:t>
                </a:r>
                <a:b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角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由图中几何关系可知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其合力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合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大小为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79c90"/>
                  </a:rPr>
                  <a:t>由牛顿</a:t>
                </a:r>
                <a:b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第二定律可知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方向与初速度方向相反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aa38e"/>
                  </a:rPr>
                  <a:t>设带电小</a:t>
                </a:r>
                <a:b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球上升的最大高度为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由动能定理可得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合</a:t>
                </a:r>
                <a:r>
                  <a:rPr lang="zh-CN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h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sin</m:t>
                        </m:r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  <m:r>
                          <m:rPr>
                            <m:nor/>
                          </m:rP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°</m:t>
                        </m:r>
                      </m:den>
                    </m:f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0340"/>
                  </a:rPr>
                  <a:t>－</a:t>
                </a:r>
                <a:b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 spc="15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pc="15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 spc="15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带电小球运动到最高点所需时间为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97a13"/>
                  </a:rPr>
                  <a:t>t</a:t>
                </a:r>
                <a:b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3484" name="yt_shape_134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189369"/>
              </a:xfrm>
              <a:prstGeom prst="rect">
                <a:avLst/>
              </a:prstGeom>
              <a:blipFill>
                <a:blip r:embed="rId2"/>
                <a:stretch>
                  <a:fillRect l="-1789" t="-470" b="-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8064E-46E1-71B5-2395-897F0FC37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4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7" name="yt_shape_13487"/>
          <p:cNvSpPr txBox="1"/>
          <p:nvPr/>
        </p:nvSpPr>
        <p:spPr>
          <a:xfrm>
            <a:off x="267086" y="12807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有三个质量相等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分别带正电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9b7c1"/>
              </a:rPr>
              <a:t>负电和不带电的微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粒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从极板左侧中央以相同的水平初速度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c13e9"/>
              </a:rPr>
              <a:t>先后垂直于电场强度方向射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分别落到极板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以下分别用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代表三个微粒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ab264"/>
              </a:rPr>
              <a:t>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则下列判断正确的是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3488" name="yt_image_13488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10353" y="3802980"/>
            <a:ext cx="247432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yt_shape_13486"/>
          <p:cNvSpPr txBox="1"/>
          <p:nvPr/>
        </p:nvSpPr>
        <p:spPr>
          <a:xfrm>
            <a:off x="482915" y="646000"/>
            <a:ext cx="754052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带电体在电场和重力场中的类抛体运动</a:t>
            </a:r>
          </a:p>
        </p:txBody>
      </p:sp>
      <p:graphicFrame>
        <p:nvGraphicFramePr>
          <p:cNvPr id="5" name="yt_table_13490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267086" y="3705127"/>
          <a:ext cx="9204325" cy="2389632"/>
        </p:xfrm>
        <a:graphic>
          <a:graphicData uri="http://schemas.openxmlformats.org/drawingml/2006/table">
            <a:tbl>
              <a:tblPr/>
              <a:tblGrid>
                <a:gridCol w="9204325">
                  <a:extLst>
                    <a:ext uri="{9D8B030D-6E8A-4147-A177-3AD203B41FA5}">
                      <a16:colId xmlns:a16="http://schemas.microsoft.com/office/drawing/2014/main" val="10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微粒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带负电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不带电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带正电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三个微粒在电场中运动时间相等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三个微粒在电场中运动的加速度的关系为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三个微粒到达极板时的动能关系为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kA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kB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kC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-75715" y="5486312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A0E809-5F1E-F461-19D5-096E438C3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93" name="yt_shape_13493"/>
              <p:cNvSpPr txBox="1"/>
              <p:nvPr/>
            </p:nvSpPr>
            <p:spPr>
              <a:xfrm>
                <a:off x="324071" y="467999"/>
                <a:ext cx="11924914" cy="44001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三个微粒的初速度相等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水平方向上都做匀速运动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8dbf1"/>
                  </a:rPr>
                  <a:t>水平位移关系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所以他们的运动时间关系为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0b048"/>
                  </a:rPr>
                  <a:t>故运动时间不相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三个微粒在竖直方向的位移相等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9e89e"/>
                  </a:rPr>
                  <a:t>他们加速度的关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从而可知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仅受重力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受向上的电场力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3c2bb"/>
                  </a:rPr>
                  <a:t>受向下的电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场力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不带电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带正电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带负电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a003e"/>
                  </a:rPr>
                  <a:t>三个微粒所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受重力做的功相等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电场力对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做负功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电场力对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做正功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475f9"/>
                  </a:rPr>
                  <a:t>根据动能定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三个微粒到达极板时的动能关系为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3493" name="yt_shape_134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400115"/>
              </a:xfrm>
              <a:prstGeom prst="rect">
                <a:avLst/>
              </a:prstGeom>
              <a:blipFill>
                <a:blip r:embed="rId2"/>
                <a:stretch>
                  <a:fillRect l="-1789" t="-554" b="-4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7BEF0-FF53-CDFB-E202-7A257616E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5" name="yt_shape_13495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3496" name="yt_shape_13496"/>
          <p:cNvSpPr txBox="1"/>
          <p:nvPr/>
        </p:nvSpPr>
        <p:spPr>
          <a:xfrm>
            <a:off x="324000" y="1056691"/>
            <a:ext cx="7899598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处理带电体在电场和重力场中做类抛体运动的方法</a:t>
            </a:r>
          </a:p>
        </p:txBody>
      </p:sp>
      <p:sp>
        <p:nvSpPr>
          <p:cNvPr id="13497" name="yt_shape_13497"/>
          <p:cNvSpPr txBox="1"/>
          <p:nvPr/>
        </p:nvSpPr>
        <p:spPr>
          <a:xfrm>
            <a:off x="324000" y="1645383"/>
            <a:ext cx="664284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明确研究对象并对其进行受力分析。</a:t>
            </a:r>
          </a:p>
        </p:txBody>
      </p:sp>
      <p:sp>
        <p:nvSpPr>
          <p:cNvPr id="13498" name="yt_shape_13498"/>
          <p:cNvSpPr txBox="1"/>
          <p:nvPr/>
        </p:nvSpPr>
        <p:spPr>
          <a:xfrm>
            <a:off x="324071" y="2228368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将运动正交分解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分方向进行分析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3_f2d8e"/>
              </a:rPr>
              <a:t>把曲线运动转化为分方向的直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利用牛顿运动定律、运动学公式求解。</a:t>
            </a:r>
          </a:p>
        </p:txBody>
      </p:sp>
      <p:sp>
        <p:nvSpPr>
          <p:cNvPr id="13499" name="yt_shape_13499"/>
          <p:cNvSpPr txBox="1"/>
          <p:nvPr/>
        </p:nvSpPr>
        <p:spPr>
          <a:xfrm>
            <a:off x="324000" y="3414595"/>
            <a:ext cx="915635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涉及功和能量问题可利用功能关系和动能定理处理。</a:t>
            </a:r>
          </a:p>
        </p:txBody>
      </p:sp>
      <p:sp>
        <p:nvSpPr>
          <p:cNvPr id="13500" name="yt_shape_13500"/>
          <p:cNvSpPr txBox="1"/>
          <p:nvPr/>
        </p:nvSpPr>
        <p:spPr>
          <a:xfrm>
            <a:off x="324000" y="3997580"/>
            <a:ext cx="104355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功能关系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静电力做的功等于电势能的减少量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。</a:t>
            </a:r>
          </a:p>
        </p:txBody>
      </p:sp>
      <p:sp>
        <p:nvSpPr>
          <p:cNvPr id="13501" name="yt_shape_13501"/>
          <p:cNvSpPr txBox="1"/>
          <p:nvPr/>
        </p:nvSpPr>
        <p:spPr>
          <a:xfrm>
            <a:off x="324000" y="4580565"/>
            <a:ext cx="911948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动能定理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合力做的功等于动能的变化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。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C657FE-E4BC-143A-F051-8324912A8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2" name="yt_shape_13502"/>
          <p:cNvSpPr txBox="1"/>
          <p:nvPr/>
        </p:nvSpPr>
        <p:spPr>
          <a:xfrm>
            <a:off x="324000" y="467999"/>
            <a:ext cx="718145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带电体在电场和重力场中的圆周运动</a:t>
            </a:r>
          </a:p>
        </p:txBody>
      </p:sp>
      <p:sp>
        <p:nvSpPr>
          <p:cNvPr id="13503" name="yt_shape_13503"/>
          <p:cNvSpPr txBox="1"/>
          <p:nvPr/>
        </p:nvSpPr>
        <p:spPr>
          <a:xfrm>
            <a:off x="324000" y="1052010"/>
            <a:ext cx="825867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解决带电体在电场和重力场中的圆周运动问题的方法</a:t>
            </a:r>
          </a:p>
        </p:txBody>
      </p:sp>
      <p:sp>
        <p:nvSpPr>
          <p:cNvPr id="13504" name="yt_shape_13504"/>
          <p:cNvSpPr txBox="1"/>
          <p:nvPr/>
        </p:nvSpPr>
        <p:spPr>
          <a:xfrm>
            <a:off x="324000" y="1640702"/>
            <a:ext cx="951542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首先分析带电体的受力情况进而确定向心力的来源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505" name="yt_shape_13505"/>
          <p:cNvSpPr txBox="1"/>
          <p:nvPr/>
        </p:nvSpPr>
        <p:spPr>
          <a:xfrm>
            <a:off x="324071" y="2223687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等效法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的思想找出带电体在电场和重力场中的等效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20044"/>
              </a:rPr>
              <a:t>最高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最低点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506" name="yt_shape_13506"/>
          <p:cNvSpPr txBox="1"/>
          <p:nvPr/>
        </p:nvSpPr>
        <p:spPr>
          <a:xfrm>
            <a:off x="324000" y="3390743"/>
            <a:ext cx="215443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等效重力法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07" name="yt_shape_13507"/>
              <p:cNvSpPr txBox="1"/>
              <p:nvPr/>
            </p:nvSpPr>
            <p:spPr>
              <a:xfrm>
                <a:off x="324071" y="3973728"/>
                <a:ext cx="11924914" cy="206069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将重力与静电力进行合成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为等效重力场中的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“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_81bba"/>
                  </a:rPr>
                  <a:t>等效重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力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”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的方向为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“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等效重力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”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的方向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即等效重力场中的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“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竖直向下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398ec"/>
                  </a:rPr>
                  <a:t>”</a:t>
                </a:r>
                <a:b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方向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合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视为等效重力场中的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“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等效重力加速度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”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3507" name="yt_shape_13507" descr="{&quot;rangeId&quot;:69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973728"/>
                <a:ext cx="11543998" cy="2060692"/>
              </a:xfrm>
              <a:prstGeom prst="rect">
                <a:avLst/>
              </a:prstGeom>
              <a:blipFill>
                <a:blip r:embed="rId2"/>
                <a:stretch>
                  <a:fillRect l="-1848" t="-1183" r="-1056" b="-4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38A541-A310-50A9-986B-24FDC88F4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05" grpId="0"/>
      <p:bldP spid="13506" grpId="0"/>
      <p:bldP spid="135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9" name="yt_shape_13509"/>
          <p:cNvSpPr txBox="1"/>
          <p:nvPr/>
        </p:nvSpPr>
        <p:spPr>
          <a:xfrm>
            <a:off x="324000" y="340999"/>
            <a:ext cx="7899598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几何最高点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最低点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与物理最高点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最低点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3510" name="yt_shape_13510"/>
          <p:cNvSpPr txBox="1"/>
          <p:nvPr/>
        </p:nvSpPr>
        <p:spPr>
          <a:xfrm>
            <a:off x="324071" y="904813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几何最高点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最低点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是指图形中所画圆的最上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94631"/>
              </a:rPr>
              <a:t>是符合人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视觉习惯的最高点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最低点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sp>
        <p:nvSpPr>
          <p:cNvPr id="13511" name="yt_shape_13511"/>
          <p:cNvSpPr txBox="1"/>
          <p:nvPr/>
        </p:nvSpPr>
        <p:spPr>
          <a:xfrm>
            <a:off x="324071" y="207186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物理最高点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最低点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等效重力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244ff"/>
              </a:rPr>
              <a:t>的反向延长线过圆心且与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圆轨道的交点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即物体在圆周运动过程中速度最小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5" name="yt_image_1351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6030" y="3188137"/>
            <a:ext cx="5474280" cy="355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2CFDC3-8D4E-67E5-109F-28139667A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4" name="yt_shape_13514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在电场和重力场中的圆周运动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的小球带电荷量为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8cc6"/>
              </a:rPr>
              <a:t>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由长为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的绝缘绳系住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在水平向右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电场强度为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的匀强电场中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6ae0"/>
              </a:rPr>
              <a:t>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初静止于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020cf"/>
              </a:rPr>
              <a:t>为了让小球在竖直平面内做完整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的圆周运动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则小球在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点的初速度至少为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3515" name="yt_image_13515" title="H_163.12495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81986" y="2778004"/>
            <a:ext cx="3035437" cy="207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517" name="yt_table_13517" title="H_103.81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6771" y="3077692"/>
              <a:ext cx="5119878" cy="1318388"/>
            </p:xfrm>
            <a:graphic>
              <a:graphicData uri="http://schemas.openxmlformats.org/drawingml/2006/table">
                <a:tbl>
                  <a:tblPr/>
                  <a:tblGrid>
                    <a:gridCol w="2927604">
                      <a:extLst>
                        <a:ext uri="{9D8B030D-6E8A-4147-A177-3AD203B41FA5}">
                          <a16:colId xmlns:a16="http://schemas.microsoft.com/office/drawing/2014/main" val="10363"/>
                        </a:ext>
                      </a:extLst>
                    </a:gridCol>
                    <a:gridCol w="2192274">
                      <a:extLst>
                        <a:ext uri="{9D8B030D-6E8A-4147-A177-3AD203B41FA5}">
                          <a16:colId xmlns:a16="http://schemas.microsoft.com/office/drawing/2014/main" val="1036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𝑔𝐿</m:t>
                                  </m:r>
                                </m:e>
                              </m:rad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𝑔𝐿</m:t>
                                  </m:r>
                                </m:e>
                              </m:rad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8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𝑔𝐿</m:t>
                                  </m:r>
                                </m:e>
                              </m:rad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𝑔𝐿</m:t>
                                  </m:r>
                                </m:e>
                              </m:rad>
                            </m:oMath>
                          </a14:m>
                          <a:endParaRPr lang="en-US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905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5="http://schemas.microsoft.com/office/powerpoint/2012/main" xmlns:p14="http://schemas.microsoft.com/office/powerpoint/2010/main" xmlns="">
          <p:graphicFrame>
            <p:nvGraphicFramePr>
              <p:cNvPr id="13517" name="yt_table_13517" title="H_103.81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4714371"/>
                  </p:ext>
                </p:extLst>
              </p:nvPr>
            </p:nvGraphicFramePr>
            <p:xfrm>
              <a:off x="336771" y="3077692"/>
              <a:ext cx="5119878" cy="1446912"/>
            </p:xfrm>
            <a:graphic>
              <a:graphicData uri="http://schemas.openxmlformats.org/drawingml/2006/table">
                <a:tbl>
                  <a:tblPr/>
                  <a:tblGrid>
                    <a:gridCol w="2927604">
                      <a:extLst>
                        <a:ext uri="{9D8B030D-6E8A-4147-A177-3AD203B41FA5}">
                          <a16:colId xmlns:a16="http://schemas.microsoft.com/office/drawing/2014/main" val="10363"/>
                        </a:ext>
                      </a:extLst>
                    </a:gridCol>
                    <a:gridCol w="2192274">
                      <a:extLst>
                        <a:ext uri="{9D8B030D-6E8A-4147-A177-3AD203B41FA5}">
                          <a16:colId xmlns:a16="http://schemas.microsoft.com/office/drawing/2014/main" val="10364"/>
                        </a:ext>
                      </a:extLst>
                    </a:gridCol>
                  </a:tblGrid>
                  <a:tr h="7234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r="-74844" b="-11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33611" b="-11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4"/>
                      </a:ext>
                    </a:extLst>
                  </a:tr>
                  <a:tr h="7234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100840" r="-74844" b="-201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33611" t="-100840" b="-201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矩形 4"/>
          <p:cNvSpPr/>
          <p:nvPr/>
        </p:nvSpPr>
        <p:spPr>
          <a:xfrm>
            <a:off x="2896710" y="3930600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9883DA-0E4D-9CF0-BF10-510B24882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519" name="yt_shape_13519"/>
              <p:cNvSpPr txBox="1"/>
              <p:nvPr/>
            </p:nvSpPr>
            <p:spPr>
              <a:xfrm>
                <a:off x="324071" y="853235"/>
                <a:ext cx="11924914" cy="35380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小球做圆周运动的等效最高点与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4_2a6f2"/>
                  </a:rPr>
                  <a:t>点关于圆心对称。当小球在等效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最高点且速度最小时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绳子的拉力为零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由几何知识知此时的合力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2af1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根据牛顿第二定律得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min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min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𝑔𝐿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35fe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从等效最高点到等效最低点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由动能定理可得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mgL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cos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°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qEL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sin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a190"/>
                  </a:rPr>
                  <a:t>°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min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𝑔𝐿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项正确。</a:t>
                </a:r>
              </a:p>
            </p:txBody>
          </p:sp>
        </mc:Choice>
        <mc:Fallback xmlns="">
          <p:sp>
            <p:nvSpPr>
              <p:cNvPr id="13519" name="yt_shape_135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853235"/>
                <a:ext cx="11924914" cy="3538020"/>
              </a:xfrm>
              <a:prstGeom prst="rect">
                <a:avLst/>
              </a:prstGeom>
              <a:blipFill>
                <a:blip r:embed="rId2"/>
                <a:stretch>
                  <a:fillRect l="-1789" t="-690" b="-2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E44F09-4AC5-FA1A-2F27-65CDAF890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2</TotalTime>
  <Words>2370</Words>
  <Application>Microsoft Macintosh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仿宋</vt:lpstr>
      <vt:lpstr>楷体</vt:lpstr>
      <vt:lpstr>微软雅黑</vt:lpstr>
      <vt:lpstr>宋体</vt:lpstr>
      <vt:lpstr>华文细黑</vt:lpstr>
      <vt:lpstr>Aparajita</vt:lpstr>
      <vt:lpstr>Arial</vt:lpstr>
      <vt:lpstr>Cambria Math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2026-05-12T06:04:51Z</dcterms:created>
  <dcterms:modified xsi:type="dcterms:W3CDTF">2026-05-12T06:07:49Z</dcterms:modified>
</cp:coreProperties>
</file>